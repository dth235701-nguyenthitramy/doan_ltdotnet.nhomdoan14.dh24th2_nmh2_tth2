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6"/>
  </p:notesMasterIdLst>
  <p:sldIdLst>
    <p:sldId id="256" r:id="rId2"/>
    <p:sldId id="257" r:id="rId3"/>
    <p:sldId id="269" r:id="rId4"/>
    <p:sldId id="262" r:id="rId5"/>
    <p:sldId id="261" r:id="rId6"/>
    <p:sldId id="263" r:id="rId7"/>
    <p:sldId id="267" r:id="rId8"/>
    <p:sldId id="288" r:id="rId9"/>
    <p:sldId id="289" r:id="rId10"/>
    <p:sldId id="293" r:id="rId11"/>
    <p:sldId id="290" r:id="rId12"/>
    <p:sldId id="280" r:id="rId13"/>
    <p:sldId id="291" r:id="rId14"/>
    <p:sldId id="292" r:id="rId15"/>
  </p:sldIdLst>
  <p:sldSz cx="9144000" cy="5143500" type="screen16x9"/>
  <p:notesSz cx="6858000" cy="9144000"/>
  <p:embeddedFontLst>
    <p:embeddedFont>
      <p:font typeface="Abril Fatface" panose="02000503000000020003" pitchFamily="2" charset="0"/>
      <p:regular r:id="rId17"/>
    </p:embeddedFont>
    <p:embeddedFont>
      <p:font typeface="Nunito" pitchFamily="2" charset="0"/>
      <p:regular r:id="rId18"/>
      <p:bold r:id="rId19"/>
      <p:italic r:id="rId20"/>
      <p:boldItalic r:id="rId21"/>
    </p:embeddedFont>
    <p:embeddedFont>
      <p:font typeface="Roboto Condensed Light" panose="02000000000000000000" pitchFamily="2" charset="0"/>
      <p:regular r:id="rId22"/>
      <p:italic r:id="rId23"/>
    </p:embeddedFont>
    <p:embeddedFont>
      <p:font typeface="Sitka Heading Semibold" pitchFamily="2" charset="0"/>
      <p:bold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93BE7E0-D079-4C40-8263-0441F1428146}">
  <a:tblStyle styleId="{193BE7E0-D079-4C40-8263-0441F142814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363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f080b61eb8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f080b61eb8_1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f080b61eb8_3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f080b61eb8_3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99f2f57a71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99f2f57a71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f080b61eb8_3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f080b61eb8_3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>
          <a:extLst>
            <a:ext uri="{FF2B5EF4-FFF2-40B4-BE49-F238E27FC236}">
              <a16:creationId xmlns:a16="http://schemas.microsoft.com/office/drawing/2014/main" id="{F3E42C9A-1D13-1BFA-24F0-503531039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f080b61eb8_3_72:notes">
            <a:extLst>
              <a:ext uri="{FF2B5EF4-FFF2-40B4-BE49-F238E27FC236}">
                <a16:creationId xmlns:a16="http://schemas.microsoft.com/office/drawing/2014/main" id="{EF3FA032-2597-EE83-C0FE-7232A2A94D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f080b61eb8_3_72:notes">
            <a:extLst>
              <a:ext uri="{FF2B5EF4-FFF2-40B4-BE49-F238E27FC236}">
                <a16:creationId xmlns:a16="http://schemas.microsoft.com/office/drawing/2014/main" id="{61B47181-229B-8F76-5360-3F3B31E1CF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48986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DBEA5CAB-71C5-A7CF-5231-667E1D551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99f2f57a71_0_177:notes">
            <a:extLst>
              <a:ext uri="{FF2B5EF4-FFF2-40B4-BE49-F238E27FC236}">
                <a16:creationId xmlns:a16="http://schemas.microsoft.com/office/drawing/2014/main" id="{4354C572-4B2B-8FF4-41DB-EF0BD41287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99f2f57a71_0_177:notes">
            <a:extLst>
              <a:ext uri="{FF2B5EF4-FFF2-40B4-BE49-F238E27FC236}">
                <a16:creationId xmlns:a16="http://schemas.microsoft.com/office/drawing/2014/main" id="{BEB791BC-8E18-D29D-A3A8-EF8E3C8265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56437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1ABEAE02-2FA4-F754-102E-DC51B5247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99f2f57a71_0_177:notes">
            <a:extLst>
              <a:ext uri="{FF2B5EF4-FFF2-40B4-BE49-F238E27FC236}">
                <a16:creationId xmlns:a16="http://schemas.microsoft.com/office/drawing/2014/main" id="{BCF623BD-0C62-7377-4965-DEC4C74774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99f2f57a71_0_177:notes">
            <a:extLst>
              <a:ext uri="{FF2B5EF4-FFF2-40B4-BE49-F238E27FC236}">
                <a16:creationId xmlns:a16="http://schemas.microsoft.com/office/drawing/2014/main" id="{35412D00-03A5-1B10-71AD-0429424907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67835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4E7C9306-CB91-C2C8-1E99-3B1ECEF20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99f2f57a71_0_177:notes">
            <a:extLst>
              <a:ext uri="{FF2B5EF4-FFF2-40B4-BE49-F238E27FC236}">
                <a16:creationId xmlns:a16="http://schemas.microsoft.com/office/drawing/2014/main" id="{8C8E1EE8-B67D-0FBE-B4F2-C767A0A1EB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99f2f57a71_0_177:notes">
            <a:extLst>
              <a:ext uri="{FF2B5EF4-FFF2-40B4-BE49-F238E27FC236}">
                <a16:creationId xmlns:a16="http://schemas.microsoft.com/office/drawing/2014/main" id="{49F596CB-CC19-350D-C9FE-BCBEA47984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01690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eda0f9cbf7_1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eda0f9cbf7_1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>
          <a:extLst>
            <a:ext uri="{FF2B5EF4-FFF2-40B4-BE49-F238E27FC236}">
              <a16:creationId xmlns:a16="http://schemas.microsoft.com/office/drawing/2014/main" id="{56CB32BF-60C7-8350-9AE5-6DE283106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99f2f57a71_0_115:notes">
            <a:extLst>
              <a:ext uri="{FF2B5EF4-FFF2-40B4-BE49-F238E27FC236}">
                <a16:creationId xmlns:a16="http://schemas.microsoft.com/office/drawing/2014/main" id="{C29B6137-0DCE-0E4C-485B-839C4C6A8A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99f2f57a71_0_115:notes">
            <a:extLst>
              <a:ext uri="{FF2B5EF4-FFF2-40B4-BE49-F238E27FC236}">
                <a16:creationId xmlns:a16="http://schemas.microsoft.com/office/drawing/2014/main" id="{03EFF447-FA45-220C-8EFE-982AD37918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51990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>
          <a:extLst>
            <a:ext uri="{FF2B5EF4-FFF2-40B4-BE49-F238E27FC236}">
              <a16:creationId xmlns:a16="http://schemas.microsoft.com/office/drawing/2014/main" id="{7B65DC83-B2E9-E331-5B06-13B92267E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99f2f57a71_0_115:notes">
            <a:extLst>
              <a:ext uri="{FF2B5EF4-FFF2-40B4-BE49-F238E27FC236}">
                <a16:creationId xmlns:a16="http://schemas.microsoft.com/office/drawing/2014/main" id="{D6655371-C31F-BF4F-5BEE-BE42F8FD9B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99f2f57a71_0_115:notes">
            <a:extLst>
              <a:ext uri="{FF2B5EF4-FFF2-40B4-BE49-F238E27FC236}">
                <a16:creationId xmlns:a16="http://schemas.microsoft.com/office/drawing/2014/main" id="{CA05EBB8-1D4B-2523-18E2-B3A469AB43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4777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>
            <a:off x="-243963" y="-93373"/>
            <a:ext cx="855913" cy="2600230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 flipH="1">
            <a:off x="7919140" y="-278604"/>
            <a:ext cx="1383960" cy="932103"/>
          </a:xfrm>
          <a:custGeom>
            <a:avLst/>
            <a:gdLst/>
            <a:ahLst/>
            <a:cxnLst/>
            <a:rect l="l" t="t" r="r" b="b"/>
            <a:pathLst>
              <a:path w="31345" h="15587" extrusionOk="0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7564905" y="-93375"/>
            <a:ext cx="1730072" cy="2044587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713100" y="1481055"/>
            <a:ext cx="6816600" cy="241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713100" y="3995538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 rot="-1055101">
            <a:off x="-960243" y="-611114"/>
            <a:ext cx="1615770" cy="1821365"/>
          </a:xfrm>
          <a:custGeom>
            <a:avLst/>
            <a:gdLst/>
            <a:ahLst/>
            <a:cxnLst/>
            <a:rect l="l" t="t" r="r" b="b"/>
            <a:pathLst>
              <a:path w="37849" h="42665" extrusionOk="0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4"/>
          <p:cNvSpPr/>
          <p:nvPr/>
        </p:nvSpPr>
        <p:spPr>
          <a:xfrm rot="10800000" flipH="1">
            <a:off x="7641225" y="-691372"/>
            <a:ext cx="1756619" cy="2076077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/>
          <p:nvPr/>
        </p:nvSpPr>
        <p:spPr>
          <a:xfrm flipH="1">
            <a:off x="8145456" y="-66021"/>
            <a:ext cx="1756619" cy="2322794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/>
          <p:nvPr/>
        </p:nvSpPr>
        <p:spPr>
          <a:xfrm flipH="1">
            <a:off x="-243963" y="-245773"/>
            <a:ext cx="855913" cy="2600230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7"/>
          <p:cNvSpPr/>
          <p:nvPr/>
        </p:nvSpPr>
        <p:spPr>
          <a:xfrm flipH="1">
            <a:off x="8071540" y="-278604"/>
            <a:ext cx="1383960" cy="932103"/>
          </a:xfrm>
          <a:custGeom>
            <a:avLst/>
            <a:gdLst/>
            <a:ahLst/>
            <a:cxnLst/>
            <a:rect l="l" t="t" r="r" b="b"/>
            <a:pathLst>
              <a:path w="31345" h="15587" extrusionOk="0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7"/>
          <p:cNvSpPr/>
          <p:nvPr/>
        </p:nvSpPr>
        <p:spPr>
          <a:xfrm flipH="1">
            <a:off x="7717305" y="-93375"/>
            <a:ext cx="1730072" cy="2044587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1"/>
          </p:nvPr>
        </p:nvSpPr>
        <p:spPr>
          <a:xfrm>
            <a:off x="720000" y="1650200"/>
            <a:ext cx="3876000" cy="233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/>
          <p:nvPr/>
        </p:nvSpPr>
        <p:spPr>
          <a:xfrm rot="880749">
            <a:off x="-109876" y="-360103"/>
            <a:ext cx="1253609" cy="3696848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9"/>
          <p:cNvSpPr/>
          <p:nvPr/>
        </p:nvSpPr>
        <p:spPr>
          <a:xfrm rot="1966325" flipH="1">
            <a:off x="-97652" y="-885201"/>
            <a:ext cx="1064941" cy="3438159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9"/>
          <p:cNvSpPr/>
          <p:nvPr/>
        </p:nvSpPr>
        <p:spPr>
          <a:xfrm>
            <a:off x="8448000" y="-771525"/>
            <a:ext cx="1214376" cy="4002640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20000" y="1240186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1"/>
          </p:nvPr>
        </p:nvSpPr>
        <p:spPr>
          <a:xfrm>
            <a:off x="2241550" y="2221513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/>
          <p:nvPr/>
        </p:nvSpPr>
        <p:spPr>
          <a:xfrm flipH="1">
            <a:off x="-331799" y="-846185"/>
            <a:ext cx="855913" cy="3527545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0"/>
          <p:cNvSpPr/>
          <p:nvPr/>
        </p:nvSpPr>
        <p:spPr>
          <a:xfrm rot="894957" flipH="1">
            <a:off x="8570322" y="26143"/>
            <a:ext cx="1383968" cy="1264504"/>
          </a:xfrm>
          <a:custGeom>
            <a:avLst/>
            <a:gdLst/>
            <a:ahLst/>
            <a:cxnLst/>
            <a:rect l="l" t="t" r="r" b="b"/>
            <a:pathLst>
              <a:path w="31345" h="15587" extrusionOk="0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0"/>
          <p:cNvSpPr/>
          <p:nvPr/>
        </p:nvSpPr>
        <p:spPr>
          <a:xfrm rot="894957" flipH="1">
            <a:off x="8014872" y="-268356"/>
            <a:ext cx="1730081" cy="2773774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3245625" y="1913850"/>
            <a:ext cx="5050500" cy="13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ONE_COLUMN_TEXT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/>
          <p:nvPr/>
        </p:nvSpPr>
        <p:spPr>
          <a:xfrm rot="-784685" flipH="1">
            <a:off x="7733575" y="-897417"/>
            <a:ext cx="1244983" cy="3296521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3"/>
          <p:cNvSpPr/>
          <p:nvPr/>
        </p:nvSpPr>
        <p:spPr>
          <a:xfrm rot="-1783285">
            <a:off x="7922631" y="-1395695"/>
            <a:ext cx="1031077" cy="3132372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3"/>
          <p:cNvSpPr/>
          <p:nvPr/>
        </p:nvSpPr>
        <p:spPr>
          <a:xfrm flipH="1">
            <a:off x="-331801" y="-1681325"/>
            <a:ext cx="1214376" cy="4002640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5243700" y="1478750"/>
            <a:ext cx="3180300" cy="30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/>
          <p:nvPr/>
        </p:nvSpPr>
        <p:spPr>
          <a:xfrm rot="-1532380">
            <a:off x="-984785" y="25045"/>
            <a:ext cx="2462769" cy="3479258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-1747850" y="-340664"/>
            <a:ext cx="2293271" cy="3283712"/>
          </a:xfrm>
          <a:custGeom>
            <a:avLst/>
            <a:gdLst/>
            <a:ahLst/>
            <a:cxnLst/>
            <a:rect l="l" t="t" r="r" b="b"/>
            <a:pathLst>
              <a:path w="37849" h="42665" extrusionOk="0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6"/>
          <p:cNvSpPr/>
          <p:nvPr/>
        </p:nvSpPr>
        <p:spPr>
          <a:xfrm rot="1315565" flipH="1">
            <a:off x="7997421" y="-481925"/>
            <a:ext cx="2374167" cy="2805933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4070700" y="3115663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ubTitle" idx="1"/>
          </p:nvPr>
        </p:nvSpPr>
        <p:spPr>
          <a:xfrm>
            <a:off x="1739700" y="1511313"/>
            <a:ext cx="6691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 flipH="1">
            <a:off x="8252620" y="-928356"/>
            <a:ext cx="1245003" cy="3181217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1"/>
          <p:cNvSpPr/>
          <p:nvPr/>
        </p:nvSpPr>
        <p:spPr>
          <a:xfrm rot="-844789">
            <a:off x="8256274" y="-340789"/>
            <a:ext cx="1031065" cy="3433350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1"/>
          <p:cNvSpPr/>
          <p:nvPr/>
        </p:nvSpPr>
        <p:spPr>
          <a:xfrm>
            <a:off x="-263905" y="-1215306"/>
            <a:ext cx="1245003" cy="3181217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title"/>
          </p:nvPr>
        </p:nvSpPr>
        <p:spPr>
          <a:xfrm>
            <a:off x="1323370" y="1297597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subTitle" idx="1"/>
          </p:nvPr>
        </p:nvSpPr>
        <p:spPr>
          <a:xfrm>
            <a:off x="1323370" y="1749106"/>
            <a:ext cx="2175300" cy="6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1"/>
          <p:cNvSpPr txBox="1">
            <a:spLocks noGrp="1"/>
          </p:cNvSpPr>
          <p:nvPr>
            <p:ph type="title" idx="2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1"/>
          <p:cNvSpPr txBox="1">
            <a:spLocks noGrp="1"/>
          </p:cNvSpPr>
          <p:nvPr>
            <p:ph type="title" idx="3"/>
          </p:nvPr>
        </p:nvSpPr>
        <p:spPr>
          <a:xfrm>
            <a:off x="1323370" y="2422722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2" name="Google Shape;142;p21"/>
          <p:cNvSpPr txBox="1">
            <a:spLocks noGrp="1"/>
          </p:cNvSpPr>
          <p:nvPr>
            <p:ph type="subTitle" idx="4"/>
          </p:nvPr>
        </p:nvSpPr>
        <p:spPr>
          <a:xfrm>
            <a:off x="1323370" y="2874231"/>
            <a:ext cx="2175300" cy="6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title" idx="5"/>
          </p:nvPr>
        </p:nvSpPr>
        <p:spPr>
          <a:xfrm>
            <a:off x="1323370" y="3547847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subTitle" idx="6"/>
          </p:nvPr>
        </p:nvSpPr>
        <p:spPr>
          <a:xfrm>
            <a:off x="1323370" y="3999356"/>
            <a:ext cx="2175300" cy="6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5" r:id="rId4"/>
    <p:sldLayoutId id="2147483656" r:id="rId5"/>
    <p:sldLayoutId id="2147483658" r:id="rId6"/>
    <p:sldLayoutId id="2147483659" r:id="rId7"/>
    <p:sldLayoutId id="2147483662" r:id="rId8"/>
    <p:sldLayoutId id="2147483667" r:id="rId9"/>
    <p:sldLayoutId id="2147483675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ademia.edu/" TargetMode="External"/><Relationship Id="rId7" Type="http://schemas.openxmlformats.org/officeDocument/2006/relationships/hyperlink" Target="https://www.mastercode.vn/blog/sql-server/bai-4-2-truy-van-du-lieu-tu-nhieu-bang-sql-structured-query-language.35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stackoverflow.com/questions/46422129/the-connectionstring-property-has-not-been-initialized-to-fix" TargetMode="External"/><Relationship Id="rId5" Type="http://schemas.openxmlformats.org/officeDocument/2006/relationships/hyperlink" Target="https://www.youtube.com/watch?v=CiiNhKvXT1o" TargetMode="External"/><Relationship Id="rId4" Type="http://schemas.openxmlformats.org/officeDocument/2006/relationships/hyperlink" Target="https://www.slideshare.net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TH235727LATHANHPATS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github.com/DTH235701-NguyenThiTraM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>
            <a:spLocks noGrp="1"/>
          </p:cNvSpPr>
          <p:nvPr>
            <p:ph type="ctrTitle"/>
          </p:nvPr>
        </p:nvSpPr>
        <p:spPr>
          <a:xfrm>
            <a:off x="0" y="1307271"/>
            <a:ext cx="9143999" cy="10397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 dirty="0">
                <a:latin typeface="Sitka Heading Semibold" pitchFamily="2" charset="0"/>
              </a:rPr>
              <a:t>QUẢN LÝ GIÁO VIÊN THPT</a:t>
            </a:r>
            <a:endParaRPr sz="4600" dirty="0">
              <a:latin typeface="Sitka Heading Semibold" pitchFamily="2" charset="0"/>
            </a:endParaRPr>
          </a:p>
        </p:txBody>
      </p:sp>
      <p:sp>
        <p:nvSpPr>
          <p:cNvPr id="233" name="Google Shape;233;p33"/>
          <p:cNvSpPr txBox="1">
            <a:spLocks noGrp="1"/>
          </p:cNvSpPr>
          <p:nvPr>
            <p:ph type="subTitle" idx="1"/>
          </p:nvPr>
        </p:nvSpPr>
        <p:spPr>
          <a:xfrm>
            <a:off x="995732" y="2839801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Ths. Nguyễn Ngọc Minh</a:t>
            </a:r>
            <a:endParaRPr dirty="0"/>
          </a:p>
        </p:txBody>
      </p:sp>
      <p:cxnSp>
        <p:nvCxnSpPr>
          <p:cNvPr id="234" name="Google Shape;234;p33"/>
          <p:cNvCxnSpPr>
            <a:cxnSpLocks/>
          </p:cNvCxnSpPr>
          <p:nvPr/>
        </p:nvCxnSpPr>
        <p:spPr>
          <a:xfrm>
            <a:off x="-319041" y="4838775"/>
            <a:ext cx="6663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233;p33">
            <a:extLst>
              <a:ext uri="{FF2B5EF4-FFF2-40B4-BE49-F238E27FC236}">
                <a16:creationId xmlns:a16="http://schemas.microsoft.com/office/drawing/2014/main" id="{357B1DCB-49AD-CA37-9501-62E5E81E0AA7}"/>
              </a:ext>
            </a:extLst>
          </p:cNvPr>
          <p:cNvSpPr txBox="1">
            <a:spLocks/>
          </p:cNvSpPr>
          <p:nvPr/>
        </p:nvSpPr>
        <p:spPr>
          <a:xfrm>
            <a:off x="0" y="40627"/>
            <a:ext cx="9143998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indent="0" algn="ctr"/>
            <a:r>
              <a:rPr lang="en-US" dirty="0"/>
              <a:t>Báo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án</a:t>
            </a:r>
            <a:endParaRPr lang="en-US" dirty="0"/>
          </a:p>
        </p:txBody>
      </p:sp>
      <p:sp>
        <p:nvSpPr>
          <p:cNvPr id="4" name="Google Shape;233;p33">
            <a:extLst>
              <a:ext uri="{FF2B5EF4-FFF2-40B4-BE49-F238E27FC236}">
                <a16:creationId xmlns:a16="http://schemas.microsoft.com/office/drawing/2014/main" id="{48839CC2-7A0B-B529-DEE0-8A053A4C3AEF}"/>
              </a:ext>
            </a:extLst>
          </p:cNvPr>
          <p:cNvSpPr txBox="1">
            <a:spLocks/>
          </p:cNvSpPr>
          <p:nvPr/>
        </p:nvSpPr>
        <p:spPr>
          <a:xfrm>
            <a:off x="0" y="387405"/>
            <a:ext cx="91440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indent="0" algn="ctr"/>
            <a:r>
              <a:rPr lang="en-US" b="1" dirty="0"/>
              <a:t>LẬP TRÌNH .NET</a:t>
            </a:r>
          </a:p>
        </p:txBody>
      </p:sp>
      <p:sp>
        <p:nvSpPr>
          <p:cNvPr id="5" name="Google Shape;233;p33">
            <a:extLst>
              <a:ext uri="{FF2B5EF4-FFF2-40B4-BE49-F238E27FC236}">
                <a16:creationId xmlns:a16="http://schemas.microsoft.com/office/drawing/2014/main" id="{386ED3E1-B5BF-D127-1719-8CA6D4582099}"/>
              </a:ext>
            </a:extLst>
          </p:cNvPr>
          <p:cNvSpPr txBox="1">
            <a:spLocks/>
          </p:cNvSpPr>
          <p:nvPr/>
        </p:nvSpPr>
        <p:spPr>
          <a:xfrm>
            <a:off x="183925" y="3296239"/>
            <a:ext cx="2100689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indent="0"/>
            <a:r>
              <a:rPr lang="en-US" sz="1400" b="1" i="1" u="sng" dirty="0"/>
              <a:t>Sinh </a:t>
            </a:r>
            <a:r>
              <a:rPr lang="en-US" sz="1400" b="1" i="1" u="sng" dirty="0" err="1"/>
              <a:t>viên</a:t>
            </a:r>
            <a:r>
              <a:rPr lang="en-US" sz="1400" b="1" i="1" u="sng" dirty="0"/>
              <a:t> </a:t>
            </a:r>
            <a:r>
              <a:rPr lang="en-US" sz="1400" b="1" i="1" u="sng" dirty="0" err="1"/>
              <a:t>thực</a:t>
            </a:r>
            <a:r>
              <a:rPr lang="en-US" sz="1400" b="1" i="1" u="sng" dirty="0"/>
              <a:t> </a:t>
            </a:r>
            <a:r>
              <a:rPr lang="en-US" sz="1400" b="1" i="1" u="sng" dirty="0" err="1"/>
              <a:t>hiên</a:t>
            </a:r>
            <a:r>
              <a:rPr lang="en-US" sz="1400" b="1" i="1" u="sng" dirty="0"/>
              <a:t>:</a:t>
            </a:r>
          </a:p>
        </p:txBody>
      </p:sp>
      <p:sp>
        <p:nvSpPr>
          <p:cNvPr id="6" name="Google Shape;233;p33">
            <a:extLst>
              <a:ext uri="{FF2B5EF4-FFF2-40B4-BE49-F238E27FC236}">
                <a16:creationId xmlns:a16="http://schemas.microsoft.com/office/drawing/2014/main" id="{E05777AA-E953-B246-D953-9FC713A09C1E}"/>
              </a:ext>
            </a:extLst>
          </p:cNvPr>
          <p:cNvSpPr txBox="1">
            <a:spLocks/>
          </p:cNvSpPr>
          <p:nvPr/>
        </p:nvSpPr>
        <p:spPr>
          <a:xfrm>
            <a:off x="0" y="1032853"/>
            <a:ext cx="9143998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indent="0" algn="ctr"/>
            <a:r>
              <a:rPr lang="en-US" sz="2000" dirty="0" err="1"/>
              <a:t>Chủ</a:t>
            </a:r>
            <a:r>
              <a:rPr lang="en-US" sz="2000" dirty="0"/>
              <a:t> </a:t>
            </a:r>
            <a:r>
              <a:rPr lang="en-US" sz="2000" dirty="0" err="1"/>
              <a:t>đề</a:t>
            </a:r>
            <a:endParaRPr lang="en-US" sz="2000" dirty="0"/>
          </a:p>
        </p:txBody>
      </p:sp>
      <p:sp>
        <p:nvSpPr>
          <p:cNvPr id="7" name="Google Shape;233;p33">
            <a:extLst>
              <a:ext uri="{FF2B5EF4-FFF2-40B4-BE49-F238E27FC236}">
                <a16:creationId xmlns:a16="http://schemas.microsoft.com/office/drawing/2014/main" id="{20C13CA2-CB99-96A6-647A-51ED19431B65}"/>
              </a:ext>
            </a:extLst>
          </p:cNvPr>
          <p:cNvSpPr txBox="1">
            <a:spLocks/>
          </p:cNvSpPr>
          <p:nvPr/>
        </p:nvSpPr>
        <p:spPr>
          <a:xfrm>
            <a:off x="183925" y="2511503"/>
            <a:ext cx="2100689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indent="0"/>
            <a:r>
              <a:rPr lang="en-US" sz="1400" b="1" i="1" u="sng" dirty="0" err="1"/>
              <a:t>Giáo</a:t>
            </a:r>
            <a:r>
              <a:rPr lang="en-US" sz="1400" b="1" i="1" u="sng" dirty="0"/>
              <a:t> </a:t>
            </a:r>
            <a:r>
              <a:rPr lang="en-US" sz="1400" b="1" i="1" u="sng" dirty="0" err="1"/>
              <a:t>viên</a:t>
            </a:r>
            <a:r>
              <a:rPr lang="en-US" sz="1400" b="1" i="1" u="sng" dirty="0"/>
              <a:t> </a:t>
            </a:r>
            <a:r>
              <a:rPr lang="en-US" sz="1400" b="1" i="1" u="sng" dirty="0" err="1"/>
              <a:t>hướng</a:t>
            </a:r>
            <a:r>
              <a:rPr lang="en-US" sz="1400" b="1" i="1" u="sng" dirty="0"/>
              <a:t> </a:t>
            </a:r>
            <a:r>
              <a:rPr lang="en-US" sz="1400" b="1" i="1" u="sng" dirty="0" err="1"/>
              <a:t>dẫn</a:t>
            </a:r>
            <a:r>
              <a:rPr lang="en-US" sz="1400" b="1" i="1" u="sng" dirty="0"/>
              <a:t>:</a:t>
            </a:r>
          </a:p>
        </p:txBody>
      </p:sp>
      <p:sp>
        <p:nvSpPr>
          <p:cNvPr id="8" name="Google Shape;233;p33">
            <a:extLst>
              <a:ext uri="{FF2B5EF4-FFF2-40B4-BE49-F238E27FC236}">
                <a16:creationId xmlns:a16="http://schemas.microsoft.com/office/drawing/2014/main" id="{5FD8C71E-E718-26B8-19C3-BBF877BF962C}"/>
              </a:ext>
            </a:extLst>
          </p:cNvPr>
          <p:cNvSpPr txBox="1">
            <a:spLocks/>
          </p:cNvSpPr>
          <p:nvPr/>
        </p:nvSpPr>
        <p:spPr>
          <a:xfrm>
            <a:off x="995732" y="3525876"/>
            <a:ext cx="8572216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dirty="0"/>
              <a:t>Nguyễn Thị Trà My	DTH235701	DH24TH2</a:t>
            </a:r>
          </a:p>
          <a:p>
            <a:pPr marL="0" indent="0">
              <a:lnSpc>
                <a:spcPct val="150000"/>
              </a:lnSpc>
            </a:pPr>
            <a:r>
              <a:rPr lang="en-US" dirty="0"/>
              <a:t>La Thanh Pats		DTH235727	DH24TH2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0" dirty="0">
                <a:latin typeface="Sitka Heading Semibold" pitchFamily="2" charset="0"/>
                <a:cs typeface="Cascadia Code SemiBold" panose="020B0609020000020004" pitchFamily="49" charset="0"/>
              </a:rPr>
              <a:t>Bảng phân công</a:t>
            </a:r>
            <a:endParaRPr sz="2800" b="0" dirty="0">
              <a:latin typeface="Sitka Heading Semibold" pitchFamily="2" charset="0"/>
              <a:cs typeface="Cascadia Code SemiBold" panose="020B0609020000020004" pitchFamily="49" charset="0"/>
            </a:endParaRPr>
          </a:p>
        </p:txBody>
      </p:sp>
      <p:cxnSp>
        <p:nvCxnSpPr>
          <p:cNvPr id="242" name="Google Shape;242;p34"/>
          <p:cNvCxnSpPr>
            <a:cxnSpLocks/>
          </p:cNvCxnSpPr>
          <p:nvPr/>
        </p:nvCxnSpPr>
        <p:spPr>
          <a:xfrm>
            <a:off x="-331800" y="4868547"/>
            <a:ext cx="6663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70FAED3-6FBC-7D98-D8F8-B4AF995159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577324"/>
              </p:ext>
            </p:extLst>
          </p:nvPr>
        </p:nvGraphicFramePr>
        <p:xfrm>
          <a:off x="820399" y="1390176"/>
          <a:ext cx="6949874" cy="1059180"/>
        </p:xfrm>
        <a:graphic>
          <a:graphicData uri="http://schemas.openxmlformats.org/drawingml/2006/table">
            <a:tbl>
              <a:tblPr firstRow="1" firstCol="1" bandRow="1"/>
              <a:tblGrid>
                <a:gridCol w="1761528">
                  <a:extLst>
                    <a:ext uri="{9D8B030D-6E8A-4147-A177-3AD203B41FA5}">
                      <a16:colId xmlns:a16="http://schemas.microsoft.com/office/drawing/2014/main" val="4217543354"/>
                    </a:ext>
                  </a:extLst>
                </a:gridCol>
                <a:gridCol w="1253777">
                  <a:extLst>
                    <a:ext uri="{9D8B030D-6E8A-4147-A177-3AD203B41FA5}">
                      <a16:colId xmlns:a16="http://schemas.microsoft.com/office/drawing/2014/main" val="3371277598"/>
                    </a:ext>
                  </a:extLst>
                </a:gridCol>
                <a:gridCol w="918272">
                  <a:extLst>
                    <a:ext uri="{9D8B030D-6E8A-4147-A177-3AD203B41FA5}">
                      <a16:colId xmlns:a16="http://schemas.microsoft.com/office/drawing/2014/main" val="2962418690"/>
                    </a:ext>
                  </a:extLst>
                </a:gridCol>
                <a:gridCol w="1842463">
                  <a:extLst>
                    <a:ext uri="{9D8B030D-6E8A-4147-A177-3AD203B41FA5}">
                      <a16:colId xmlns:a16="http://schemas.microsoft.com/office/drawing/2014/main" val="2415632730"/>
                    </a:ext>
                  </a:extLst>
                </a:gridCol>
                <a:gridCol w="1173834">
                  <a:extLst>
                    <a:ext uri="{9D8B030D-6E8A-4147-A177-3AD203B41FA5}">
                      <a16:colId xmlns:a16="http://schemas.microsoft.com/office/drawing/2014/main" val="300576683"/>
                    </a:ext>
                  </a:extLst>
                </a:gridCol>
              </a:tblGrid>
              <a:tr h="3054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Họ</a:t>
                      </a:r>
                      <a:r>
                        <a:rPr lang="en-US" sz="13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tên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MSSV</a:t>
                      </a:r>
                      <a:endParaRPr lang="en-US" sz="14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Lớp</a:t>
                      </a:r>
                      <a:endParaRPr lang="en-US" sz="14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Nhiệm vụ</a:t>
                      </a:r>
                      <a:endParaRPr lang="en-US" sz="14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Tỉ</a:t>
                      </a:r>
                      <a:r>
                        <a:rPr lang="en-US" sz="13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lệ</a:t>
                      </a:r>
                      <a:r>
                        <a:rPr lang="en-US" sz="13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tham</a:t>
                      </a:r>
                      <a:r>
                        <a:rPr lang="en-US" sz="13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gia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46893217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Nguyễn Thị Trà My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DTH235701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DH24TH2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Code, PPT, Word, SQL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r>
                        <a:rPr lang="vi-VN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36844556"/>
                  </a:ext>
                </a:extLst>
              </a:tr>
              <a:tr h="3740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Thanh Pats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DTH235701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DH24TH2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Code, PPT, Word, SQL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r>
                        <a:rPr lang="vi-VN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9715528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6"/>
          <p:cNvSpPr txBox="1">
            <a:spLocks noGrp="1"/>
          </p:cNvSpPr>
          <p:nvPr>
            <p:ph type="title"/>
          </p:nvPr>
        </p:nvSpPr>
        <p:spPr>
          <a:xfrm>
            <a:off x="725100" y="185330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" dirty="0"/>
              <a:t>—</a:t>
            </a:r>
            <a:r>
              <a:rPr lang="en" dirty="0">
                <a:latin typeface="Sitka Heading Semibold" pitchFamily="2" charset="0"/>
              </a:rPr>
              <a:t>Lời nói đầu</a:t>
            </a:r>
            <a:r>
              <a:rPr lang="en" dirty="0"/>
              <a:t> —</a:t>
            </a:r>
            <a:endParaRPr dirty="0">
              <a:latin typeface="Sitka Heading Semibold" pitchFamily="2" charset="0"/>
            </a:endParaRPr>
          </a:p>
        </p:txBody>
      </p:sp>
      <p:sp>
        <p:nvSpPr>
          <p:cNvPr id="429" name="Google Shape;429;p46"/>
          <p:cNvSpPr txBox="1">
            <a:spLocks noGrp="1"/>
          </p:cNvSpPr>
          <p:nvPr>
            <p:ph type="subTitle" idx="1"/>
          </p:nvPr>
        </p:nvSpPr>
        <p:spPr>
          <a:xfrm>
            <a:off x="795529" y="864852"/>
            <a:ext cx="6691200" cy="324781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THPT,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phức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Các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sổ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Excel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sót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thiểu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sót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300" dirty="0"/>
          </a:p>
        </p:txBody>
      </p:sp>
      <p:cxnSp>
        <p:nvCxnSpPr>
          <p:cNvPr id="430" name="Google Shape;430;p46"/>
          <p:cNvCxnSpPr>
            <a:cxnSpLocks/>
          </p:cNvCxnSpPr>
          <p:nvPr/>
        </p:nvCxnSpPr>
        <p:spPr>
          <a:xfrm>
            <a:off x="-331800" y="4868547"/>
            <a:ext cx="6663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9"/>
          <p:cNvSpPr txBox="1">
            <a:spLocks noGrp="1"/>
          </p:cNvSpPr>
          <p:nvPr>
            <p:ph type="title"/>
          </p:nvPr>
        </p:nvSpPr>
        <p:spPr>
          <a:xfrm>
            <a:off x="719999" y="274952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latin typeface="Sitka Heading Semibold" pitchFamily="2" charset="0"/>
              </a:rPr>
              <a:t>SƠ ĐỒ MỐI QUAN HỆ </a:t>
            </a:r>
            <a:endParaRPr sz="3600" dirty="0">
              <a:latin typeface="Sitka Heading Semibold" pitchFamily="2" charset="0"/>
            </a:endParaRPr>
          </a:p>
        </p:txBody>
      </p:sp>
      <p:cxnSp>
        <p:nvCxnSpPr>
          <p:cNvPr id="300" name="Google Shape;300;p39"/>
          <p:cNvCxnSpPr>
            <a:cxnSpLocks/>
          </p:cNvCxnSpPr>
          <p:nvPr/>
        </p:nvCxnSpPr>
        <p:spPr>
          <a:xfrm>
            <a:off x="-331800" y="4868547"/>
            <a:ext cx="6663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44763D37-B07E-91EA-ACB0-07252E89C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0675" y="1259758"/>
            <a:ext cx="5770164" cy="30131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8"/>
          <p:cNvSpPr txBox="1">
            <a:spLocks noGrp="1"/>
          </p:cNvSpPr>
          <p:nvPr>
            <p:ph type="title" idx="2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>
                <a:latin typeface="Sitka Heading Semibold" pitchFamily="2" charset="0"/>
              </a:rPr>
              <a:t>Form Login</a:t>
            </a:r>
            <a:endParaRPr b="0" dirty="0">
              <a:latin typeface="Sitka Heading Semibold" pitchFamily="2" charset="0"/>
            </a:endParaRPr>
          </a:p>
        </p:txBody>
      </p:sp>
      <p:cxnSp>
        <p:nvCxnSpPr>
          <p:cNvPr id="292" name="Google Shape;292;p38"/>
          <p:cNvCxnSpPr>
            <a:cxnSpLocks/>
          </p:cNvCxnSpPr>
          <p:nvPr/>
        </p:nvCxnSpPr>
        <p:spPr>
          <a:xfrm>
            <a:off x="-331800" y="4868547"/>
            <a:ext cx="6663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BD22385B-6986-178F-B231-28A329996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845" y="1248594"/>
            <a:ext cx="5220335" cy="30460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0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Sitka Heading Semibold" pitchFamily="2" charset="0"/>
              </a:rPr>
              <a:t>Form Trang chủ</a:t>
            </a:r>
            <a:endParaRPr dirty="0">
              <a:latin typeface="Sitka Heading Semibold" pitchFamily="2" charset="0"/>
            </a:endParaRPr>
          </a:p>
        </p:txBody>
      </p:sp>
      <p:cxnSp>
        <p:nvCxnSpPr>
          <p:cNvPr id="309" name="Google Shape;309;p40"/>
          <p:cNvCxnSpPr>
            <a:cxnSpLocks/>
          </p:cNvCxnSpPr>
          <p:nvPr/>
        </p:nvCxnSpPr>
        <p:spPr>
          <a:xfrm>
            <a:off x="-331800" y="4868547"/>
            <a:ext cx="6663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8DD259D8-A8C7-7BB2-4453-5092E79F6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1832" y="1182687"/>
            <a:ext cx="6382600" cy="33966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4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>
                <a:latin typeface="Sitka Heading Semibold" pitchFamily="2" charset="0"/>
              </a:rPr>
              <a:t>Form Giáo viên</a:t>
            </a:r>
            <a:endParaRPr b="0" dirty="0">
              <a:latin typeface="Sitka Heading Semibold" pitchFamily="2" charset="0"/>
            </a:endParaRPr>
          </a:p>
        </p:txBody>
      </p:sp>
      <p:cxnSp>
        <p:nvCxnSpPr>
          <p:cNvPr id="400" name="Google Shape;400;p44"/>
          <p:cNvCxnSpPr>
            <a:cxnSpLocks/>
          </p:cNvCxnSpPr>
          <p:nvPr/>
        </p:nvCxnSpPr>
        <p:spPr>
          <a:xfrm>
            <a:off x="-331800" y="4868547"/>
            <a:ext cx="6663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91EAD1C-48A0-F6E6-B645-94E0DB708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127" y="1163257"/>
            <a:ext cx="6081823" cy="34934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>
          <a:extLst>
            <a:ext uri="{FF2B5EF4-FFF2-40B4-BE49-F238E27FC236}">
              <a16:creationId xmlns:a16="http://schemas.microsoft.com/office/drawing/2014/main" id="{4A87B908-9F03-BC57-3AD1-4BD88A497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4">
            <a:extLst>
              <a:ext uri="{FF2B5EF4-FFF2-40B4-BE49-F238E27FC236}">
                <a16:creationId xmlns:a16="http://schemas.microsoft.com/office/drawing/2014/main" id="{45E58651-07C2-E530-C4CC-5F64F13B1E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>
                <a:latin typeface="Sitka Heading Semibold" pitchFamily="2" charset="0"/>
              </a:rPr>
              <a:t>Form Lớp</a:t>
            </a:r>
            <a:endParaRPr b="0" dirty="0">
              <a:latin typeface="Sitka Heading Semibold" pitchFamily="2" charset="0"/>
            </a:endParaRPr>
          </a:p>
        </p:txBody>
      </p:sp>
      <p:cxnSp>
        <p:nvCxnSpPr>
          <p:cNvPr id="400" name="Google Shape;400;p44">
            <a:extLst>
              <a:ext uri="{FF2B5EF4-FFF2-40B4-BE49-F238E27FC236}">
                <a16:creationId xmlns:a16="http://schemas.microsoft.com/office/drawing/2014/main" id="{1359D063-80A2-78BF-D312-F41095F0ACDA}"/>
              </a:ext>
            </a:extLst>
          </p:cNvPr>
          <p:cNvCxnSpPr>
            <a:cxnSpLocks/>
          </p:cNvCxnSpPr>
          <p:nvPr/>
        </p:nvCxnSpPr>
        <p:spPr>
          <a:xfrm>
            <a:off x="-331800" y="4868547"/>
            <a:ext cx="6663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84D6775-98CC-B471-BD74-E97E96320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6040" y="1442180"/>
            <a:ext cx="6715525" cy="3003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266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>
          <a:extLst>
            <a:ext uri="{FF2B5EF4-FFF2-40B4-BE49-F238E27FC236}">
              <a16:creationId xmlns:a16="http://schemas.microsoft.com/office/drawing/2014/main" id="{580F8E99-ADD0-5E77-3C03-0AE0717CE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0">
            <a:extLst>
              <a:ext uri="{FF2B5EF4-FFF2-40B4-BE49-F238E27FC236}">
                <a16:creationId xmlns:a16="http://schemas.microsoft.com/office/drawing/2014/main" id="{65D204DE-D6BE-C9CE-DF58-CC0BB68DD2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Sitka Heading Semibold" pitchFamily="2" charset="0"/>
              </a:rPr>
              <a:t>Form Môn</a:t>
            </a:r>
            <a:endParaRPr dirty="0">
              <a:latin typeface="Sitka Heading Semibold" pitchFamily="2" charset="0"/>
            </a:endParaRPr>
          </a:p>
        </p:txBody>
      </p:sp>
      <p:cxnSp>
        <p:nvCxnSpPr>
          <p:cNvPr id="309" name="Google Shape;309;p40">
            <a:extLst>
              <a:ext uri="{FF2B5EF4-FFF2-40B4-BE49-F238E27FC236}">
                <a16:creationId xmlns:a16="http://schemas.microsoft.com/office/drawing/2014/main" id="{21FDDE39-422B-D82E-98CF-980D813D0246}"/>
              </a:ext>
            </a:extLst>
          </p:cNvPr>
          <p:cNvCxnSpPr>
            <a:cxnSpLocks/>
          </p:cNvCxnSpPr>
          <p:nvPr/>
        </p:nvCxnSpPr>
        <p:spPr>
          <a:xfrm>
            <a:off x="-331800" y="4868547"/>
            <a:ext cx="6663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A680B6F-8608-4647-AE47-0437FF8EA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319" y="1318254"/>
            <a:ext cx="7081284" cy="297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044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>
          <a:extLst>
            <a:ext uri="{FF2B5EF4-FFF2-40B4-BE49-F238E27FC236}">
              <a16:creationId xmlns:a16="http://schemas.microsoft.com/office/drawing/2014/main" id="{621C12D6-9FCB-0613-50B2-E3F79764A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0">
            <a:extLst>
              <a:ext uri="{FF2B5EF4-FFF2-40B4-BE49-F238E27FC236}">
                <a16:creationId xmlns:a16="http://schemas.microsoft.com/office/drawing/2014/main" id="{1837DE26-1DAA-4D1E-D3A5-9E07B1E93C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Sitka Heading Semibold" pitchFamily="2" charset="0"/>
              </a:rPr>
              <a:t>Form Phân Công</a:t>
            </a:r>
            <a:endParaRPr dirty="0">
              <a:latin typeface="Sitka Heading Semibold" pitchFamily="2" charset="0"/>
            </a:endParaRPr>
          </a:p>
        </p:txBody>
      </p:sp>
      <p:cxnSp>
        <p:nvCxnSpPr>
          <p:cNvPr id="309" name="Google Shape;309;p40">
            <a:extLst>
              <a:ext uri="{FF2B5EF4-FFF2-40B4-BE49-F238E27FC236}">
                <a16:creationId xmlns:a16="http://schemas.microsoft.com/office/drawing/2014/main" id="{9B6071A8-B82B-AE80-7872-C9B7C7B4FA0E}"/>
              </a:ext>
            </a:extLst>
          </p:cNvPr>
          <p:cNvCxnSpPr>
            <a:cxnSpLocks/>
          </p:cNvCxnSpPr>
          <p:nvPr/>
        </p:nvCxnSpPr>
        <p:spPr>
          <a:xfrm>
            <a:off x="-331800" y="4868547"/>
            <a:ext cx="6663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AA14099-F894-BFEE-1D4E-4E0294FFE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4713" y="1151314"/>
            <a:ext cx="5764550" cy="345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057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>
          <a:extLst>
            <a:ext uri="{FF2B5EF4-FFF2-40B4-BE49-F238E27FC236}">
              <a16:creationId xmlns:a16="http://schemas.microsoft.com/office/drawing/2014/main" id="{A6FEFEBD-264F-9318-66F5-027064B00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0">
            <a:extLst>
              <a:ext uri="{FF2B5EF4-FFF2-40B4-BE49-F238E27FC236}">
                <a16:creationId xmlns:a16="http://schemas.microsoft.com/office/drawing/2014/main" id="{CD7DE272-1900-0E3C-53B9-D85C4D753C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Sitka Heading Semibold" pitchFamily="2" charset="0"/>
              </a:rPr>
              <a:t>Form Thời khóa biểu</a:t>
            </a:r>
            <a:endParaRPr dirty="0">
              <a:latin typeface="Sitka Heading Semibold" pitchFamily="2" charset="0"/>
            </a:endParaRPr>
          </a:p>
        </p:txBody>
      </p:sp>
      <p:cxnSp>
        <p:nvCxnSpPr>
          <p:cNvPr id="309" name="Google Shape;309;p40">
            <a:extLst>
              <a:ext uri="{FF2B5EF4-FFF2-40B4-BE49-F238E27FC236}">
                <a16:creationId xmlns:a16="http://schemas.microsoft.com/office/drawing/2014/main" id="{3A0AF50E-05B1-7A68-09BD-26E44025A045}"/>
              </a:ext>
            </a:extLst>
          </p:cNvPr>
          <p:cNvCxnSpPr>
            <a:cxnSpLocks/>
          </p:cNvCxnSpPr>
          <p:nvPr/>
        </p:nvCxnSpPr>
        <p:spPr>
          <a:xfrm>
            <a:off x="-331800" y="4868547"/>
            <a:ext cx="6663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FC9A933E-26C3-7D34-2A60-951858C2A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168" y="1433542"/>
            <a:ext cx="7811326" cy="309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424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57"/>
          <p:cNvSpPr txBox="1">
            <a:spLocks noGrp="1"/>
          </p:cNvSpPr>
          <p:nvPr>
            <p:ph type="title"/>
          </p:nvPr>
        </p:nvSpPr>
        <p:spPr>
          <a:xfrm>
            <a:off x="949329" y="46773"/>
            <a:ext cx="5050500" cy="13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Sitka Heading Semibold" pitchFamily="2" charset="0"/>
              </a:rPr>
              <a:t>Hướng phát triển thêm</a:t>
            </a:r>
            <a:endParaRPr dirty="0">
              <a:latin typeface="Sitka Heading Semibold" pitchFamily="2" charset="0"/>
            </a:endParaRPr>
          </a:p>
        </p:txBody>
      </p:sp>
      <p:cxnSp>
        <p:nvCxnSpPr>
          <p:cNvPr id="758" name="Google Shape;758;p57"/>
          <p:cNvCxnSpPr>
            <a:cxnSpLocks/>
          </p:cNvCxnSpPr>
          <p:nvPr/>
        </p:nvCxnSpPr>
        <p:spPr>
          <a:xfrm>
            <a:off x="-331800" y="4868547"/>
            <a:ext cx="6663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757;p57">
            <a:extLst>
              <a:ext uri="{FF2B5EF4-FFF2-40B4-BE49-F238E27FC236}">
                <a16:creationId xmlns:a16="http://schemas.microsoft.com/office/drawing/2014/main" id="{6574F65F-671B-AF7D-2393-0095083265CD}"/>
              </a:ext>
            </a:extLst>
          </p:cNvPr>
          <p:cNvSpPr txBox="1">
            <a:spLocks/>
          </p:cNvSpPr>
          <p:nvPr/>
        </p:nvSpPr>
        <p:spPr>
          <a:xfrm>
            <a:off x="3474579" y="1080270"/>
            <a:ext cx="5050500" cy="3678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sz="1400" dirty="0"/>
              <a:t>-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Bảo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Trải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(UX/Security)</a:t>
            </a:r>
          </a:p>
          <a:p>
            <a:pPr algn="just"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+ Bảo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khẩu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algn="just"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+ </a:t>
            </a: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diện: Nâng cấp Giao diện Người dùng (UI/UX) để hiện đại và chuyên nghiệp hơn.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Tự động hóa và Tối ưu (Automation)</a:t>
            </a:r>
          </a:p>
          <a:p>
            <a:pPr algn="just"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+ </a:t>
            </a: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Gợi ý TKB: Bổ sung module Gợi ý Tiết học Tối ưu để đề xuất MaGV/MaMon hợp lệ cho các ô trống.</a:t>
            </a:r>
          </a:p>
          <a:p>
            <a:pPr algn="just"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+ </a:t>
            </a: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Xếp TKB tự động: Áp dụng thuật toán (ví dụ: Thuật toán Di truyền) để hệ thống tự động điền TKB.</a:t>
            </a:r>
          </a:p>
          <a:p>
            <a:pPr algn="l">
              <a:lnSpc>
                <a:spcPct val="15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>
          <a:extLst>
            <a:ext uri="{FF2B5EF4-FFF2-40B4-BE49-F238E27FC236}">
              <a16:creationId xmlns:a16="http://schemas.microsoft.com/office/drawing/2014/main" id="{08B5876A-DB49-0386-8788-D4CEF6EC7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6">
            <a:extLst>
              <a:ext uri="{FF2B5EF4-FFF2-40B4-BE49-F238E27FC236}">
                <a16:creationId xmlns:a16="http://schemas.microsoft.com/office/drawing/2014/main" id="{DDDF7A7E-1276-ADDC-B042-335D851FB3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5100" y="185330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" dirty="0"/>
              <a:t>—</a:t>
            </a:r>
            <a:r>
              <a:rPr lang="en" dirty="0">
                <a:latin typeface="Sitka Heading Semibold" pitchFamily="2" charset="0"/>
              </a:rPr>
              <a:t>Tài liệu tham khảo</a:t>
            </a:r>
            <a:r>
              <a:rPr lang="en" dirty="0"/>
              <a:t>—</a:t>
            </a:r>
            <a:endParaRPr dirty="0">
              <a:latin typeface="Sitka Heading Semibold" pitchFamily="2" charset="0"/>
            </a:endParaRPr>
          </a:p>
        </p:txBody>
      </p:sp>
      <p:cxnSp>
        <p:nvCxnSpPr>
          <p:cNvPr id="430" name="Google Shape;430;p46">
            <a:extLst>
              <a:ext uri="{FF2B5EF4-FFF2-40B4-BE49-F238E27FC236}">
                <a16:creationId xmlns:a16="http://schemas.microsoft.com/office/drawing/2014/main" id="{7F8291EC-CF4D-22FD-D634-2D2C024F813F}"/>
              </a:ext>
            </a:extLst>
          </p:cNvPr>
          <p:cNvCxnSpPr>
            <a:cxnSpLocks/>
          </p:cNvCxnSpPr>
          <p:nvPr/>
        </p:nvCxnSpPr>
        <p:spPr>
          <a:xfrm>
            <a:off x="-331800" y="4868547"/>
            <a:ext cx="6663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78;p14">
            <a:extLst>
              <a:ext uri="{FF2B5EF4-FFF2-40B4-BE49-F238E27FC236}">
                <a16:creationId xmlns:a16="http://schemas.microsoft.com/office/drawing/2014/main" id="{2F5CFA11-5DCE-F2B3-48BA-A8C5FCF4F7A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424786" y="947737"/>
            <a:ext cx="6691312" cy="324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Playfair Display Regular"/>
              <a:buNone/>
              <a:defRPr sz="2200" b="0" i="0" u="none" strike="noStrike" cap="none">
                <a:solidFill>
                  <a:schemeClr val="accent1"/>
                </a:solidFill>
                <a:latin typeface="Playfair Display Regular"/>
                <a:ea typeface="Playfair Display Regular"/>
                <a:cs typeface="Playfair Display Regular"/>
                <a:sym typeface="Playfair Display Regular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Playfair Display Regular"/>
              <a:buNone/>
              <a:defRPr sz="2200" b="0" i="0" u="none" strike="noStrike" cap="none">
                <a:solidFill>
                  <a:schemeClr val="accent1"/>
                </a:solidFill>
                <a:latin typeface="Playfair Display Regular"/>
                <a:ea typeface="Playfair Display Regular"/>
                <a:cs typeface="Playfair Display Regular"/>
                <a:sym typeface="Playfair Display Regular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Playfair Display Regular"/>
              <a:buNone/>
              <a:defRPr sz="2200" b="0" i="0" u="none" strike="noStrike" cap="none">
                <a:solidFill>
                  <a:schemeClr val="accent1"/>
                </a:solidFill>
                <a:latin typeface="Playfair Display Regular"/>
                <a:ea typeface="Playfair Display Regular"/>
                <a:cs typeface="Playfair Display Regular"/>
                <a:sym typeface="Playfair Display Regular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Playfair Display Regular"/>
              <a:buNone/>
              <a:defRPr sz="2200" b="0" i="0" u="none" strike="noStrike" cap="none">
                <a:solidFill>
                  <a:schemeClr val="accent1"/>
                </a:solidFill>
                <a:latin typeface="Playfair Display Regular"/>
                <a:ea typeface="Playfair Display Regular"/>
                <a:cs typeface="Playfair Display Regular"/>
                <a:sym typeface="Playfair Display Regular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Playfair Display Regular"/>
              <a:buNone/>
              <a:defRPr sz="2200" b="0" i="0" u="none" strike="noStrike" cap="none">
                <a:solidFill>
                  <a:schemeClr val="accent1"/>
                </a:solidFill>
                <a:latin typeface="Playfair Display Regular"/>
                <a:ea typeface="Playfair Display Regular"/>
                <a:cs typeface="Playfair Display Regular"/>
                <a:sym typeface="Playfair Display Regular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Playfair Display Regular"/>
              <a:buNone/>
              <a:defRPr sz="2200" b="0" i="0" u="none" strike="noStrike" cap="none">
                <a:solidFill>
                  <a:schemeClr val="accent1"/>
                </a:solidFill>
                <a:latin typeface="Playfair Display Regular"/>
                <a:ea typeface="Playfair Display Regular"/>
                <a:cs typeface="Playfair Display Regular"/>
                <a:sym typeface="Playfair Display Regular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Playfair Display Regular"/>
              <a:buNone/>
              <a:defRPr sz="2200" b="0" i="0" u="none" strike="noStrike" cap="none">
                <a:solidFill>
                  <a:schemeClr val="accent1"/>
                </a:solidFill>
                <a:latin typeface="Playfair Display Regular"/>
                <a:ea typeface="Playfair Display Regular"/>
                <a:cs typeface="Playfair Display Regular"/>
                <a:sym typeface="Playfair Display Regular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Playfair Display Regular"/>
              <a:buNone/>
              <a:defRPr sz="2200" b="0" i="0" u="none" strike="noStrike" cap="none">
                <a:solidFill>
                  <a:schemeClr val="accent1"/>
                </a:solidFill>
                <a:latin typeface="Playfair Display Regular"/>
                <a:ea typeface="Playfair Display Regular"/>
                <a:cs typeface="Playfair Display Regular"/>
                <a:sym typeface="Playfair Display Regular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Playfair Display Regular"/>
              <a:buNone/>
              <a:defRPr sz="2200" b="0" i="0" u="none" strike="noStrike" cap="none">
                <a:solidFill>
                  <a:schemeClr val="accent1"/>
                </a:solidFill>
                <a:latin typeface="Playfair Display Regular"/>
                <a:ea typeface="Playfair Display Regular"/>
                <a:cs typeface="Playfair Display Regular"/>
                <a:sym typeface="Playfair Display Regular"/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sz="1400" dirty="0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 </a:t>
            </a:r>
            <a:r>
              <a:rPr lang="en-US" sz="1400" dirty="0" err="1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Giáo</a:t>
            </a:r>
            <a:r>
              <a:rPr lang="en-US" sz="1400" dirty="0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trình</a:t>
            </a:r>
            <a:r>
              <a:rPr lang="en-US" sz="1400" dirty="0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Lập</a:t>
            </a:r>
            <a:r>
              <a:rPr lang="en-US" sz="1400" dirty="0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trình</a:t>
            </a:r>
            <a:r>
              <a:rPr lang="en-US" sz="1400" dirty="0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.Net</a:t>
            </a:r>
            <a:r>
              <a:rPr lang="en-US" sz="1400" dirty="0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  <a:p>
            <a:pPr lvl="0">
              <a:lnSpc>
                <a:spcPct val="150000"/>
              </a:lnSpc>
            </a:pPr>
            <a:r>
              <a:rPr lang="en-US" sz="1400" dirty="0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 Link </a:t>
            </a:r>
            <a:r>
              <a:rPr lang="en-US" sz="1400" dirty="0" err="1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tham</a:t>
            </a:r>
            <a:r>
              <a:rPr lang="en-US" sz="1400" dirty="0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khảo</a:t>
            </a:r>
            <a:r>
              <a:rPr lang="en-US" sz="1400" dirty="0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1400" u="sng" dirty="0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https://www.academia.edu/</a:t>
            </a:r>
            <a:endParaRPr lang="en-US" sz="1400" dirty="0">
              <a:solidFill>
                <a:schemeClr val="accent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0">
              <a:lnSpc>
                <a:spcPct val="150000"/>
              </a:lnSpc>
              <a:spcAft>
                <a:spcPts val="1000"/>
              </a:spcAft>
            </a:pPr>
            <a:r>
              <a:rPr lang="en-US" sz="1400" dirty="0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 Link </a:t>
            </a:r>
            <a:r>
              <a:rPr lang="en-US" sz="1400" dirty="0" err="1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tham</a:t>
            </a:r>
            <a:r>
              <a:rPr lang="en-US" sz="1400" dirty="0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khảo</a:t>
            </a:r>
            <a:r>
              <a:rPr lang="en-US" sz="1400" dirty="0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1400" u="sng" dirty="0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https://www.slideshare.net/</a:t>
            </a:r>
            <a:endParaRPr lang="en-US" sz="1400" u="sng" dirty="0">
              <a:solidFill>
                <a:schemeClr val="accent2">
                  <a:lumMod val="10000"/>
                </a:schemeClr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0">
              <a:lnSpc>
                <a:spcPct val="150000"/>
              </a:lnSpc>
              <a:spcAft>
                <a:spcPts val="1000"/>
              </a:spcAft>
            </a:pPr>
            <a:r>
              <a:rPr lang="en-US" sz="1400" dirty="0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 Link </a:t>
            </a:r>
            <a:r>
              <a:rPr lang="en-US" sz="1400" dirty="0" err="1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tham</a:t>
            </a:r>
            <a:r>
              <a:rPr lang="en-US" sz="1400" dirty="0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khảo</a:t>
            </a:r>
            <a:r>
              <a:rPr lang="en-US" sz="1400" dirty="0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140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hlinkClick r:id="rId5"/>
              </a:rPr>
              <a:t>https://www.youtube.com/watch?v=CiiNhKvXT1o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US" sz="1400" dirty="0">
                <a:solidFill>
                  <a:schemeClr val="accent2">
                    <a:lumMod val="1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- </a:t>
            </a:r>
            <a:r>
              <a:rPr lang="en-US" sz="1400" dirty="0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Link </a:t>
            </a:r>
            <a:r>
              <a:rPr lang="en-US" sz="1400" dirty="0" err="1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tham</a:t>
            </a:r>
            <a:r>
              <a:rPr lang="en-US" sz="1400" dirty="0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khảo</a:t>
            </a:r>
            <a:r>
              <a:rPr lang="en-US" sz="1400" dirty="0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140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hlinkClick r:id="rId6"/>
              </a:rPr>
              <a:t>https://stackoverflow.com/questions/46422129/the-connectionstring-property-has-not-been-initialized-to-fix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0">
              <a:lnSpc>
                <a:spcPct val="150000"/>
              </a:lnSpc>
              <a:spcAft>
                <a:spcPts val="1000"/>
              </a:spcAft>
            </a:pPr>
            <a:r>
              <a:rPr lang="en-US" sz="1400" dirty="0">
                <a:solidFill>
                  <a:schemeClr val="accent2">
                    <a:lumMod val="1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- </a:t>
            </a:r>
            <a:r>
              <a:rPr lang="en-US" sz="1400" dirty="0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Link </a:t>
            </a:r>
            <a:r>
              <a:rPr lang="en-US" sz="1400" dirty="0" err="1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tham</a:t>
            </a:r>
            <a:r>
              <a:rPr lang="en-US" sz="1400" dirty="0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khảo</a:t>
            </a:r>
            <a:r>
              <a:rPr lang="en-US" sz="1400" dirty="0">
                <a:solidFill>
                  <a:schemeClr val="accent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140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hlinkClick r:id="rId7"/>
              </a:rPr>
              <a:t>https://www.mastercode.vn/blog/sql-server/bai-4-2-truy-van-du-lieu-tu-nhieu-bang-sql-structured-query-language.35</a:t>
            </a:r>
            <a:endParaRPr lang="en-US" sz="1800" dirty="0">
              <a:solidFill>
                <a:schemeClr val="accent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914400" algn="just">
              <a:lnSpc>
                <a:spcPct val="150000"/>
              </a:lnSpc>
              <a:spcAft>
                <a:spcPts val="1000"/>
              </a:spcAft>
            </a:pPr>
            <a:endParaRPr lang="en-US" sz="1500" dirty="0">
              <a:solidFill>
                <a:schemeClr val="accent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452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>
          <a:extLst>
            <a:ext uri="{FF2B5EF4-FFF2-40B4-BE49-F238E27FC236}">
              <a16:creationId xmlns:a16="http://schemas.microsoft.com/office/drawing/2014/main" id="{5C4C8B3A-8CB0-4944-B4BB-6D82BD52A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0" name="Google Shape;430;p46">
            <a:extLst>
              <a:ext uri="{FF2B5EF4-FFF2-40B4-BE49-F238E27FC236}">
                <a16:creationId xmlns:a16="http://schemas.microsoft.com/office/drawing/2014/main" id="{1FB97616-21AA-E4E9-D8E5-AD5D56ED923D}"/>
              </a:ext>
            </a:extLst>
          </p:cNvPr>
          <p:cNvCxnSpPr>
            <a:cxnSpLocks/>
          </p:cNvCxnSpPr>
          <p:nvPr/>
        </p:nvCxnSpPr>
        <p:spPr>
          <a:xfrm>
            <a:off x="-331800" y="4868547"/>
            <a:ext cx="6663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804;p62">
            <a:extLst>
              <a:ext uri="{FF2B5EF4-FFF2-40B4-BE49-F238E27FC236}">
                <a16:creationId xmlns:a16="http://schemas.microsoft.com/office/drawing/2014/main" id="{DD1FD83E-946C-2884-107D-DF0A2B7394A4}"/>
              </a:ext>
            </a:extLst>
          </p:cNvPr>
          <p:cNvSpPr txBox="1">
            <a:spLocks/>
          </p:cNvSpPr>
          <p:nvPr/>
        </p:nvSpPr>
        <p:spPr>
          <a:xfrm>
            <a:off x="1145303" y="274952"/>
            <a:ext cx="42948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algn="l"/>
            <a:r>
              <a:rPr lang="en-US" sz="5400" dirty="0"/>
              <a:t>Thanks!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1CB1E3-6C53-BB50-E9B2-048F75A0874C}"/>
              </a:ext>
            </a:extLst>
          </p:cNvPr>
          <p:cNvSpPr txBox="1"/>
          <p:nvPr/>
        </p:nvSpPr>
        <p:spPr>
          <a:xfrm>
            <a:off x="1145303" y="1523263"/>
            <a:ext cx="6271970" cy="2262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📬 Liên </a:t>
            </a:r>
            <a:r>
              <a:rPr lang="en-US" sz="1600" dirty="0" err="1"/>
              <a:t>hệ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/>
              <a:t>📧 Email:   pats_dth235727@student.agu.edu.vn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	   my_dth235701@student.agu.edu.vn</a:t>
            </a:r>
          </a:p>
          <a:p>
            <a:pPr>
              <a:lnSpc>
                <a:spcPct val="150000"/>
              </a:lnSpc>
            </a:pP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/>
              <a:t>📌 GitHub: </a:t>
            </a:r>
            <a:r>
              <a:rPr lang="en-US" sz="1600" dirty="0">
                <a:hlinkClick r:id="rId3"/>
              </a:rPr>
              <a:t>https://github.com/DTH235727LATHANHPATS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/>
              <a:t>	   </a:t>
            </a:r>
            <a:r>
              <a:rPr lang="en-US" sz="1600" dirty="0">
                <a:hlinkClick r:id="rId4"/>
              </a:rPr>
              <a:t>https://github.com/DTH235701-NguyenThiTraMy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481838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Lines Pitch Deck by Slidesgo">
  <a:themeElements>
    <a:clrScheme name="Simple Light">
      <a:dk1>
        <a:srgbClr val="302926"/>
      </a:dk1>
      <a:lt1>
        <a:srgbClr val="E7E7E7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292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523</Words>
  <Application>Microsoft Office PowerPoint</Application>
  <PresentationFormat>On-screen Show (16:9)</PresentationFormat>
  <Paragraphs>57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Sitka Heading Semibold</vt:lpstr>
      <vt:lpstr>Abril Fatface</vt:lpstr>
      <vt:lpstr>Arial</vt:lpstr>
      <vt:lpstr>Nunito</vt:lpstr>
      <vt:lpstr>Roboto Condensed Light</vt:lpstr>
      <vt:lpstr>Times New Roman</vt:lpstr>
      <vt:lpstr>Elegant Lines Pitch Deck by Slidesgo</vt:lpstr>
      <vt:lpstr>QUẢN LÝ GIÁO VIÊN THPT</vt:lpstr>
      <vt:lpstr>Bảng phân công</vt:lpstr>
      <vt:lpstr>—Lời nói đầu —</vt:lpstr>
      <vt:lpstr>SƠ ĐỒ MỐI QUAN HỆ </vt:lpstr>
      <vt:lpstr>Form Login</vt:lpstr>
      <vt:lpstr>Form Trang chủ</vt:lpstr>
      <vt:lpstr>Form Giáo viên</vt:lpstr>
      <vt:lpstr>Form Lớp</vt:lpstr>
      <vt:lpstr>Form Môn</vt:lpstr>
      <vt:lpstr>Form Phân Công</vt:lpstr>
      <vt:lpstr>Form Thời khóa biểu</vt:lpstr>
      <vt:lpstr>Hướng phát triển thêm</vt:lpstr>
      <vt:lpstr>—Tài liệu tham khảo—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Trà My</dc:creator>
  <cp:lastModifiedBy>Trà My</cp:lastModifiedBy>
  <cp:revision>7</cp:revision>
  <dcterms:modified xsi:type="dcterms:W3CDTF">2025-11-27T02:15:02Z</dcterms:modified>
</cp:coreProperties>
</file>